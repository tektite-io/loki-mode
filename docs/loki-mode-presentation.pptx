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3.png"/><Relationship Id="rId14" Type="http://schemas.openxmlformats.org/officeDocument/2006/relationships/image" Target="../media/image-6-14.png"/><Relationship Id="rId15" Type="http://schemas.openxmlformats.org/officeDocument/2006/relationships/image" Target="../media/image-6-15.png"/><Relationship Id="rId16" Type="http://schemas.openxmlformats.org/officeDocument/2006/relationships/image" Target="../media/image-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image" Target="../media/image-7-12.png"/><Relationship Id="rId13" Type="http://schemas.openxmlformats.org/officeDocument/2006/relationships/image" Target="../media/image-7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7144" y="-7144"/>
            <a:ext cx="4804172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  <p:txBody>
          <a:bodyPr/>
          <a:p/>
        </p:txBody>
      </p:sp>
      <p:sp>
        <p:nvSpPr>
          <p:cNvPr id="4" name="Shape 1"/>
          <p:cNvSpPr/>
          <p:nvPr/>
        </p:nvSpPr>
        <p:spPr>
          <a:xfrm>
            <a:off x="4789884" y="-7144"/>
            <a:ext cx="7144" cy="5143500"/>
          </a:xfrm>
          <a:prstGeom prst="rect">
            <a:avLst/>
          </a:prstGeom>
          <a:solidFill>
            <a:srgbClr val="E0E0FC"/>
          </a:solidFill>
          <a:ln/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450056" y="1089868"/>
            <a:ext cx="434340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2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450056" y="1813368"/>
            <a:ext cx="4343400" cy="6000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4353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Mode</a:t>
            </a:r>
            <a:endParaRPr lang="en-US" sz="4353" dirty="0"/>
          </a:p>
        </p:txBody>
      </p:sp>
      <p:sp>
        <p:nvSpPr>
          <p:cNvPr id="7" name="Text 4"/>
          <p:cNvSpPr/>
          <p:nvPr/>
        </p:nvSpPr>
        <p:spPr>
          <a:xfrm>
            <a:off x="450056" y="2556318"/>
            <a:ext cx="3571875" cy="84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multi-agent development with self-verification. PRD in, tested code out.</a:t>
            </a:r>
            <a:endParaRPr lang="en-US" sz="1486" dirty="0"/>
          </a:p>
        </p:txBody>
      </p:sp>
      <p:sp>
        <p:nvSpPr>
          <p:cNvPr id="8" name="Text 5"/>
          <p:cNvSpPr/>
          <p:nvPr/>
        </p:nvSpPr>
        <p:spPr>
          <a:xfrm>
            <a:off x="450056" y="3739307"/>
            <a:ext cx="43434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Created by Lokesh Mure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Powered by Autonomi (v7.24.0)</a:t>
            </a:r>
            <a:endParaRPr lang="en-US" sz="834" dirty="0"/>
          </a:p>
        </p:txBody>
      </p:sp>
      <p:sp>
        <p:nvSpPr>
          <p:cNvPr id="9" name="Shape 6"/>
          <p:cNvSpPr/>
          <p:nvPr/>
        </p:nvSpPr>
        <p:spPr>
          <a:xfrm>
            <a:off x="5743575" y="178973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888" y="2057629"/>
            <a:ext cx="285750" cy="285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600825" y="138945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9419" y="1657350"/>
            <a:ext cx="357188" cy="28575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8075" y="178973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0247" y="2064773"/>
            <a:ext cx="250031" cy="28575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743575" y="2779148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747" y="3047039"/>
            <a:ext cx="250031" cy="28575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6600825" y="3048093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5138" y="3315984"/>
            <a:ext cx="285750" cy="28575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7458075" y="2773059"/>
            <a:ext cx="728663" cy="835819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72388" y="3048093"/>
            <a:ext cx="285750" cy="285750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6472238" y="2046914"/>
            <a:ext cx="1014413" cy="1157288"/>
          </a:xfrm>
          <a:prstGeom prst="rect">
            <a:avLst/>
          </a:prstGeom>
          <a:solidFill>
            <a:srgbClr val="6366F1"/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57988" y="2404101"/>
            <a:ext cx="428625" cy="428625"/>
          </a:xfrm>
          <a:prstGeom prst="rect">
            <a:avLst/>
          </a:prstGeom>
        </p:spPr>
      </p:pic>
      <p:sp>
        <p:nvSpPr>
          <p:cNvPr id="23" name="Shape 13"/>
          <p:cNvSpPr/>
          <p:nvPr/>
        </p:nvSpPr>
        <p:spPr>
          <a:xfrm>
            <a:off x="8293894" y="4654153"/>
            <a:ext cx="550069" cy="203597"/>
          </a:xfrm>
          <a:prstGeom prst="rect">
            <a:avLst/>
          </a:prstGeom>
          <a:solidFill>
            <a:srgbClr val="6366F1">
              <a:alpha val="2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4" name="Text 14"/>
          <p:cNvSpPr/>
          <p:nvPr/>
        </p:nvSpPr>
        <p:spPr>
          <a:xfrm>
            <a:off x="8293894" y="4654153"/>
            <a:ext cx="550069" cy="203597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v7.24.0</a:t>
            </a:r>
            <a:endParaRPr lang="en-US" sz="72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89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 &amp; The Solution</a:t>
            </a:r>
            <a:endParaRPr lang="en-US" sz="2436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1139428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21531" y="1121569"/>
            <a:ext cx="1430536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</a:t>
            </a:r>
            <a:endParaRPr lang="en-US" sz="1193" dirty="0"/>
          </a:p>
        </p:txBody>
      </p:sp>
      <p:sp>
        <p:nvSpPr>
          <p:cNvPr id="6" name="Shape 2"/>
          <p:cNvSpPr/>
          <p:nvPr/>
        </p:nvSpPr>
        <p:spPr>
          <a:xfrm>
            <a:off x="564356" y="1500188"/>
            <a:ext cx="3786188" cy="7429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3"/>
          <p:cNvSpPr/>
          <p:nvPr/>
        </p:nvSpPr>
        <p:spPr>
          <a:xfrm>
            <a:off x="564356" y="1500188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 is bottlenecked by manual coding, testing, and deployment cycles.</a:t>
            </a:r>
            <a:endParaRPr lang="en-US" sz="942" dirty="0"/>
          </a:p>
        </p:txBody>
      </p:sp>
      <p:sp>
        <p:nvSpPr>
          <p:cNvPr id="8" name="Shape 4"/>
          <p:cNvSpPr/>
          <p:nvPr/>
        </p:nvSpPr>
        <p:spPr>
          <a:xfrm>
            <a:off x="564356" y="2371725"/>
            <a:ext cx="3786188" cy="7429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64356" y="2371725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Existing AI frameworks focus on single tasks or linear code generation.</a:t>
            </a:r>
            <a:endParaRPr lang="en-US" sz="942" dirty="0"/>
          </a:p>
        </p:txBody>
      </p:sp>
      <p:sp>
        <p:nvSpPr>
          <p:cNvPr id="10" name="Shape 6"/>
          <p:cNvSpPr/>
          <p:nvPr/>
        </p:nvSpPr>
        <p:spPr>
          <a:xfrm>
            <a:off x="564356" y="3243263"/>
            <a:ext cx="3786188" cy="742950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564356" y="3243263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Significant gaps remain in business operations and infrastructure management.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9169" y="1139428"/>
            <a:ext cx="171450" cy="17145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036344" y="1121569"/>
            <a:ext cx="2452092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LOKI MODE ADVANTAGE</a:t>
            </a:r>
            <a:endParaRPr lang="en-US" sz="1193" dirty="0"/>
          </a:p>
        </p:txBody>
      </p:sp>
      <p:sp>
        <p:nvSpPr>
          <p:cNvPr id="14" name="Shape 9"/>
          <p:cNvSpPr/>
          <p:nvPr/>
        </p:nvSpPr>
        <p:spPr>
          <a:xfrm>
            <a:off x="4779169" y="1500188"/>
            <a:ext cx="3786188" cy="742950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4779169" y="1500188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Orchestrates 41 specialized AI agents across 8 swarms for full-lifecycle delivery.</a:t>
            </a:r>
            <a:endParaRPr lang="en-US" sz="942" dirty="0"/>
          </a:p>
        </p:txBody>
      </p:sp>
      <p:sp>
        <p:nvSpPr>
          <p:cNvPr id="16" name="Shape 11"/>
          <p:cNvSpPr/>
          <p:nvPr/>
        </p:nvSpPr>
        <p:spPr>
          <a:xfrm>
            <a:off x="4779169" y="2371725"/>
            <a:ext cx="3786188" cy="742950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Text 12"/>
          <p:cNvSpPr/>
          <p:nvPr/>
        </p:nvSpPr>
        <p:spPr>
          <a:xfrm>
            <a:off x="4779169" y="2371725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a single PRD into a fully built, tested, and deployed product.</a:t>
            </a:r>
            <a:endParaRPr lang="en-US" sz="942" dirty="0"/>
          </a:p>
        </p:txBody>
      </p:sp>
      <p:sp>
        <p:nvSpPr>
          <p:cNvPr id="18" name="Shape 13"/>
          <p:cNvSpPr/>
          <p:nvPr/>
        </p:nvSpPr>
        <p:spPr>
          <a:xfrm>
            <a:off x="4779169" y="3243263"/>
            <a:ext cx="3786188" cy="742950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4779169" y="3243263"/>
            <a:ext cx="3786188" cy="742950"/>
          </a:xfrm>
          <a:prstGeom prst="rect">
            <a:avLst/>
          </a:prstGeom>
          <a:noFill/>
          <a:ln/>
        </p:spPr>
        <p:txBody>
          <a:bodyPr wrap="square" lIns="204089" tIns="204089" rIns="204089" bIns="204089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multi-agent execution with minimal human intervention required.</a:t>
            </a:r>
            <a:endParaRPr lang="en-US" sz="942" dirty="0"/>
          </a:p>
        </p:txBody>
      </p:sp>
      <p:sp>
        <p:nvSpPr>
          <p:cNvPr id="20" name="Shape 15"/>
          <p:cNvSpPr/>
          <p:nvPr/>
        </p:nvSpPr>
        <p:spPr>
          <a:xfrm>
            <a:off x="2691408" y="4400550"/>
            <a:ext cx="3746897" cy="739378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1" name="Text 16"/>
          <p:cNvSpPr/>
          <p:nvPr/>
        </p:nvSpPr>
        <p:spPr>
          <a:xfrm>
            <a:off x="2977158" y="4543425"/>
            <a:ext cx="1232297" cy="45362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98.78%</a:t>
            </a:r>
            <a:endParaRPr lang="en-US" sz="2436" dirty="0"/>
          </a:p>
        </p:txBody>
      </p:sp>
      <p:sp>
        <p:nvSpPr>
          <p:cNvPr id="22" name="Text 17"/>
          <p:cNvSpPr/>
          <p:nvPr/>
        </p:nvSpPr>
        <p:spPr>
          <a:xfrm>
            <a:off x="4423767" y="4615951"/>
            <a:ext cx="1728788" cy="3085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HumanEval Success Rate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Proven Technical Excellence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Architecture: 8 Swarms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050131"/>
            <a:ext cx="2052712" cy="39112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SWARM</a:t>
            </a:r>
            <a:endParaRPr lang="en-US" sz="885" dirty="0"/>
          </a:p>
        </p:txBody>
      </p:sp>
      <p:sp>
        <p:nvSpPr>
          <p:cNvPr id="5" name="Text 2"/>
          <p:cNvSpPr/>
          <p:nvPr/>
        </p:nvSpPr>
        <p:spPr>
          <a:xfrm>
            <a:off x="2617068" y="1050131"/>
            <a:ext cx="1154330" cy="39112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3771398" y="1050131"/>
            <a:ext cx="4793959" cy="391120"/>
          </a:xfrm>
          <a:prstGeom prst="rect">
            <a:avLst/>
          </a:prstGeom>
          <a:noFill/>
          <a:ln/>
        </p:spPr>
        <p:txBody>
          <a:bodyPr wrap="square" lIns="136017" tIns="136017" rIns="136017" bIns="136017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RESPONSIBILITY</a:t>
            </a:r>
            <a:endParaRPr lang="en-US" sz="88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1568946"/>
            <a:ext cx="128588" cy="12858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8681" y="1555552"/>
            <a:ext cx="610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Bootstrap</a:t>
            </a:r>
            <a:endParaRPr lang="en-US" sz="885" dirty="0"/>
          </a:p>
        </p:txBody>
      </p:sp>
      <p:sp>
        <p:nvSpPr>
          <p:cNvPr id="9" name="Shape 5"/>
          <p:cNvSpPr/>
          <p:nvPr/>
        </p:nvSpPr>
        <p:spPr>
          <a:xfrm>
            <a:off x="2731368" y="1512689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2731368" y="1512689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3771398" y="1441252"/>
            <a:ext cx="4793959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 initialization and base environment setup</a:t>
            </a:r>
            <a:endParaRPr lang="en-US" sz="942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656" y="1945779"/>
            <a:ext cx="128588" cy="1285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8681" y="1932384"/>
            <a:ext cx="6340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Discovery</a:t>
            </a:r>
            <a:endParaRPr lang="en-US" sz="885" dirty="0"/>
          </a:p>
        </p:txBody>
      </p:sp>
      <p:sp>
        <p:nvSpPr>
          <p:cNvPr id="14" name="Shape 9"/>
          <p:cNvSpPr/>
          <p:nvPr/>
        </p:nvSpPr>
        <p:spPr>
          <a:xfrm>
            <a:off x="2731368" y="1889522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2731368" y="1889522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3771398" y="1821656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Requirement analysis and deep domain research</a:t>
            </a:r>
            <a:endParaRPr lang="en-US" sz="942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2322612"/>
            <a:ext cx="128588" cy="1285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8681" y="2309217"/>
            <a:ext cx="7840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885" dirty="0"/>
          </a:p>
        </p:txBody>
      </p:sp>
      <p:sp>
        <p:nvSpPr>
          <p:cNvPr id="19" name="Shape 13"/>
          <p:cNvSpPr/>
          <p:nvPr/>
        </p:nvSpPr>
        <p:spPr>
          <a:xfrm>
            <a:off x="2731368" y="2266355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Text 14"/>
          <p:cNvSpPr/>
          <p:nvPr/>
        </p:nvSpPr>
        <p:spPr>
          <a:xfrm>
            <a:off x="2731368" y="2266355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3771398" y="2198489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design and optimal tech stack selection</a:t>
            </a:r>
            <a:endParaRPr lang="en-US" sz="942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656" y="2699445"/>
            <a:ext cx="160734" cy="12858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0828" y="2686050"/>
            <a:ext cx="83581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885" dirty="0"/>
          </a:p>
        </p:txBody>
      </p:sp>
      <p:sp>
        <p:nvSpPr>
          <p:cNvPr id="24" name="Shape 17"/>
          <p:cNvSpPr/>
          <p:nvPr/>
        </p:nvSpPr>
        <p:spPr>
          <a:xfrm>
            <a:off x="2731368" y="2643188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Text 18"/>
          <p:cNvSpPr/>
          <p:nvPr/>
        </p:nvSpPr>
        <p:spPr>
          <a:xfrm>
            <a:off x="2731368" y="2643188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3771398" y="2575322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coding and core feature implementation</a:t>
            </a:r>
            <a:endParaRPr lang="en-US" sz="942" dirty="0"/>
          </a:p>
        </p:txBody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656" y="3076277"/>
            <a:ext cx="128588" cy="128588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878681" y="3062883"/>
            <a:ext cx="19109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QA</a:t>
            </a:r>
            <a:endParaRPr lang="en-US" sz="885" dirty="0"/>
          </a:p>
        </p:txBody>
      </p:sp>
      <p:sp>
        <p:nvSpPr>
          <p:cNvPr id="29" name="Shape 21"/>
          <p:cNvSpPr/>
          <p:nvPr/>
        </p:nvSpPr>
        <p:spPr>
          <a:xfrm>
            <a:off x="2731368" y="3020020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2"/>
          <p:cNvSpPr/>
          <p:nvPr/>
        </p:nvSpPr>
        <p:spPr>
          <a:xfrm>
            <a:off x="2731368" y="3020020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2" dirty="0"/>
          </a:p>
        </p:txBody>
      </p:sp>
      <p:sp>
        <p:nvSpPr>
          <p:cNvPr id="31" name="Text 23"/>
          <p:cNvSpPr/>
          <p:nvPr/>
        </p:nvSpPr>
        <p:spPr>
          <a:xfrm>
            <a:off x="3771398" y="2952155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9-gate quality control and 3-reviewer blind review</a:t>
            </a:r>
            <a:endParaRPr lang="en-US" sz="942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656" y="3453110"/>
            <a:ext cx="144661" cy="128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94755" y="3439716"/>
            <a:ext cx="86260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</a:t>
            </a:r>
            <a:endParaRPr lang="en-US" sz="885" dirty="0"/>
          </a:p>
        </p:txBody>
      </p:sp>
      <p:sp>
        <p:nvSpPr>
          <p:cNvPr id="34" name="Shape 25"/>
          <p:cNvSpPr/>
          <p:nvPr/>
        </p:nvSpPr>
        <p:spPr>
          <a:xfrm>
            <a:off x="2731368" y="3396853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" name="Text 26"/>
          <p:cNvSpPr/>
          <p:nvPr/>
        </p:nvSpPr>
        <p:spPr>
          <a:xfrm>
            <a:off x="2731368" y="3396853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2" dirty="0"/>
          </a:p>
        </p:txBody>
      </p:sp>
      <p:sp>
        <p:nvSpPr>
          <p:cNvPr id="36" name="Text 27"/>
          <p:cNvSpPr/>
          <p:nvPr/>
        </p:nvSpPr>
        <p:spPr>
          <a:xfrm>
            <a:off x="3771398" y="3328988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coordination and real-time task management</a:t>
            </a:r>
            <a:endParaRPr lang="en-US" sz="942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8656" y="3829943"/>
            <a:ext cx="128588" cy="128588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878681" y="3816548"/>
            <a:ext cx="45720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885" dirty="0"/>
          </a:p>
        </p:txBody>
      </p:sp>
      <p:sp>
        <p:nvSpPr>
          <p:cNvPr id="39" name="Shape 29"/>
          <p:cNvSpPr/>
          <p:nvPr/>
        </p:nvSpPr>
        <p:spPr>
          <a:xfrm>
            <a:off x="2731368" y="3773686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0"/>
          <p:cNvSpPr/>
          <p:nvPr/>
        </p:nvSpPr>
        <p:spPr>
          <a:xfrm>
            <a:off x="2731368" y="3773686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</a:t>
            </a:r>
            <a:endParaRPr lang="en-US" sz="942" dirty="0"/>
          </a:p>
        </p:txBody>
      </p:sp>
      <p:sp>
        <p:nvSpPr>
          <p:cNvPr id="41" name="Text 31"/>
          <p:cNvSpPr/>
          <p:nvPr/>
        </p:nvSpPr>
        <p:spPr>
          <a:xfrm>
            <a:off x="3771398" y="3705820"/>
            <a:ext cx="4793959" cy="376833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Marketing, sales, and business operation strategy</a:t>
            </a:r>
            <a:endParaRPr lang="en-US" sz="942" dirty="0"/>
          </a:p>
        </p:txBody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656" y="4206776"/>
            <a:ext cx="160734" cy="128588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10828" y="4193381"/>
            <a:ext cx="7608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</a:t>
            </a:r>
            <a:endParaRPr lang="en-US" sz="885" dirty="0"/>
          </a:p>
        </p:txBody>
      </p:sp>
      <p:sp>
        <p:nvSpPr>
          <p:cNvPr id="44" name="Shape 33"/>
          <p:cNvSpPr/>
          <p:nvPr/>
        </p:nvSpPr>
        <p:spPr>
          <a:xfrm>
            <a:off x="2731368" y="4150519"/>
            <a:ext cx="262533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" name="Text 34"/>
          <p:cNvSpPr/>
          <p:nvPr/>
        </p:nvSpPr>
        <p:spPr>
          <a:xfrm>
            <a:off x="2731368" y="4150519"/>
            <a:ext cx="262533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942" dirty="0"/>
          </a:p>
        </p:txBody>
      </p:sp>
      <p:sp>
        <p:nvSpPr>
          <p:cNvPr id="46" name="Text 35"/>
          <p:cNvSpPr/>
          <p:nvPr/>
        </p:nvSpPr>
        <p:spPr>
          <a:xfrm>
            <a:off x="3771398" y="4082653"/>
            <a:ext cx="4793959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as Code (IaC) and cloud delivery</a:t>
            </a:r>
            <a:endParaRPr lang="en-US" sz="942" dirty="0"/>
          </a:p>
        </p:txBody>
      </p:sp>
      <p:sp>
        <p:nvSpPr>
          <p:cNvPr id="47" name="Shape 36"/>
          <p:cNvSpPr/>
          <p:nvPr/>
        </p:nvSpPr>
        <p:spPr>
          <a:xfrm>
            <a:off x="564356" y="4463058"/>
            <a:ext cx="8001000" cy="38040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48" name="Text 37"/>
          <p:cNvSpPr/>
          <p:nvPr/>
        </p:nvSpPr>
        <p:spPr>
          <a:xfrm>
            <a:off x="564356" y="4463058"/>
            <a:ext cx="2052712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Orchestration</a:t>
            </a:r>
            <a:endParaRPr lang="en-US" sz="885" dirty="0"/>
          </a:p>
        </p:txBody>
      </p:sp>
      <p:sp>
        <p:nvSpPr>
          <p:cNvPr id="49" name="Shape 38"/>
          <p:cNvSpPr/>
          <p:nvPr/>
        </p:nvSpPr>
        <p:spPr>
          <a:xfrm>
            <a:off x="2731368" y="4534495"/>
            <a:ext cx="339328" cy="24110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39"/>
          <p:cNvSpPr/>
          <p:nvPr/>
        </p:nvSpPr>
        <p:spPr>
          <a:xfrm>
            <a:off x="2731368" y="4534495"/>
            <a:ext cx="339328" cy="241102"/>
          </a:xfrm>
          <a:prstGeom prst="rect">
            <a:avLst/>
          </a:prstGeom>
          <a:noFill/>
          <a:ln/>
        </p:spPr>
        <p:txBody>
          <a:bodyPr wrap="square" lIns="102108" tIns="34036" rIns="102108" bIns="34036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41</a:t>
            </a:r>
            <a:endParaRPr lang="en-US" sz="885" dirty="0"/>
          </a:p>
        </p:txBody>
      </p:sp>
      <p:sp>
        <p:nvSpPr>
          <p:cNvPr id="51" name="Text 40"/>
          <p:cNvSpPr/>
          <p:nvPr/>
        </p:nvSpPr>
        <p:spPr>
          <a:xfrm>
            <a:off x="3771398" y="4463058"/>
            <a:ext cx="4793959" cy="380405"/>
          </a:xfrm>
          <a:prstGeom prst="rect">
            <a:avLst/>
          </a:prstGeom>
          <a:noFill/>
          <a:ln/>
        </p:spPr>
        <p:txBody>
          <a:bodyPr wrap="square" lIns="136017" tIns="119126" rIns="136017" bIns="119126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Fully Autonomous Software Delivery Lifecycle</a:t>
            </a:r>
            <a:endParaRPr lang="en-US" sz="88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RARV Cycle &amp; CoVe Protocol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10715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156" y="1293019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53703" y="1864519"/>
            <a:ext cx="621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REASON</a:t>
            </a:r>
            <a:endParaRPr lang="en-US" sz="1193" dirty="0"/>
          </a:p>
        </p:txBody>
      </p:sp>
      <p:sp>
        <p:nvSpPr>
          <p:cNvPr id="7" name="Text 3"/>
          <p:cNvSpPr/>
          <p:nvPr/>
        </p:nvSpPr>
        <p:spPr>
          <a:xfrm>
            <a:off x="5643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next tasks and identifying hallucinations early.</a:t>
            </a:r>
            <a:endParaRPr lang="en-US" sz="834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1694" y="1407319"/>
            <a:ext cx="150019" cy="171450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26717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6069" y="1293019"/>
            <a:ext cx="257175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09280" y="1864519"/>
            <a:ext cx="31075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21645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Executing code changes, commits, and autonomous iterations.</a:t>
            </a:r>
            <a:endParaRPr lang="en-US" sz="834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21894" y="1407319"/>
            <a:ext cx="150019" cy="17145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42719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0556" y="1293019"/>
            <a:ext cx="228600" cy="22860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202311" y="1864519"/>
            <a:ext cx="72509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REFLECT</a:t>
            </a:r>
            <a:endParaRPr lang="en-US" sz="1193" dirty="0"/>
          </a:p>
        </p:txBody>
      </p:sp>
      <p:sp>
        <p:nvSpPr>
          <p:cNvPr id="17" name="Text 9"/>
          <p:cNvSpPr/>
          <p:nvPr/>
        </p:nvSpPr>
        <p:spPr>
          <a:xfrm>
            <a:off x="37647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Updating working memory and extracting learnings from failures.</a:t>
            </a:r>
            <a:endParaRPr lang="en-US" sz="834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22094" y="1407319"/>
            <a:ext cx="150019" cy="171450"/>
          </a:xfrm>
          <a:prstGeom prst="rect">
            <a:avLst/>
          </a:prstGeom>
        </p:spPr>
      </p:pic>
      <p:sp>
        <p:nvSpPr>
          <p:cNvPr id="19" name="Shape 10"/>
          <p:cNvSpPr/>
          <p:nvPr/>
        </p:nvSpPr>
        <p:spPr>
          <a:xfrm>
            <a:off x="58721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20" name="Text 11"/>
          <p:cNvSpPr/>
          <p:nvPr/>
        </p:nvSpPr>
        <p:spPr>
          <a:xfrm>
            <a:off x="5854303" y="1864519"/>
            <a:ext cx="621506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VERIFY</a:t>
            </a:r>
            <a:endParaRPr lang="en-US" sz="1193" dirty="0"/>
          </a:p>
        </p:txBody>
      </p:sp>
      <p:sp>
        <p:nvSpPr>
          <p:cNvPr id="21" name="Text 12"/>
          <p:cNvSpPr/>
          <p:nvPr/>
        </p:nvSpPr>
        <p:spPr>
          <a:xfrm>
            <a:off x="5364956" y="2205633"/>
            <a:ext cx="1600200" cy="68580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Running 9 gates via </a:t>
            </a:r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Chain-of-Verification (CoVe)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independent 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review.</a:t>
            </a:r>
            <a:endParaRPr lang="en-US" sz="834" dirty="0"/>
          </a:p>
        </p:txBody>
      </p:sp>
      <p:sp>
        <p:nvSpPr>
          <p:cNvPr id="22" name="Text 13"/>
          <p:cNvSpPr/>
          <p:nvPr/>
        </p:nvSpPr>
        <p:spPr>
          <a:xfrm>
            <a:off x="5700713" y="2948583"/>
            <a:ext cx="928688" cy="155377"/>
          </a:xfrm>
          <a:prstGeom prst="rect">
            <a:avLst/>
          </a:prstGeom>
          <a:noFill/>
          <a:ln/>
        </p:spPr>
        <p:txBody>
          <a:bodyPr wrap="square" lIns="51054" tIns="17018" rIns="51054" bIns="17018" rtlCol="0" anchor="t">
            <a:spAutoFit/>
          </a:bodyPr>
          <a:lstStyle/>
          <a:p>
            <a:pPr algn="ctr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arXiv 2309.11495</a:t>
            </a:r>
            <a:endParaRPr lang="en-US" sz="621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22294" y="1407319"/>
            <a:ext cx="150019" cy="171450"/>
          </a:xfrm>
          <a:prstGeom prst="rect">
            <a:avLst/>
          </a:prstGeom>
        </p:spPr>
      </p:pic>
      <p:sp>
        <p:nvSpPr>
          <p:cNvPr id="24" name="Shape 14"/>
          <p:cNvSpPr/>
          <p:nvPr/>
        </p:nvSpPr>
        <p:spPr>
          <a:xfrm>
            <a:off x="7472363" y="1121569"/>
            <a:ext cx="585788" cy="585788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50956" y="1293019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350919" y="1864519"/>
            <a:ext cx="8286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COMPOUND</a:t>
            </a:r>
            <a:endParaRPr lang="en-US" sz="1193" dirty="0"/>
          </a:p>
        </p:txBody>
      </p:sp>
      <p:sp>
        <p:nvSpPr>
          <p:cNvPr id="27" name="Text 16"/>
          <p:cNvSpPr/>
          <p:nvPr/>
        </p:nvSpPr>
        <p:spPr>
          <a:xfrm>
            <a:off x="6965156" y="2205633"/>
            <a:ext cx="1600200" cy="514350"/>
          </a:xfrm>
          <a:prstGeom prst="rect">
            <a:avLst/>
          </a:prstGeom>
          <a:noFill/>
          <a:ln/>
        </p:spPr>
        <p:txBody>
          <a:bodyPr wrap="square" lIns="85090" tIns="0" rIns="8509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Consolidating episodic memory into long-term semantic knowledge.</a:t>
            </a:r>
            <a:endParaRPr lang="en-US" sz="834" dirty="0"/>
          </a:p>
        </p:txBody>
      </p:sp>
      <p:sp>
        <p:nvSpPr>
          <p:cNvPr id="28" name="Text 17"/>
          <p:cNvSpPr/>
          <p:nvPr/>
        </p:nvSpPr>
        <p:spPr>
          <a:xfrm>
            <a:off x="3332559" y="4414838"/>
            <a:ext cx="2464594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2" kern="0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SELF-VERIFYING AUTONOMOUS LOOP</a:t>
            </a:r>
            <a:endParaRPr lang="en-US" sz="78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Quality Gates &amp; Test Integrity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050131"/>
            <a:ext cx="4543425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 VERIFICATION PIPELINE</a:t>
            </a:r>
            <a:endParaRPr lang="en-US" sz="987" dirty="0"/>
          </a:p>
        </p:txBody>
      </p:sp>
      <p:sp>
        <p:nvSpPr>
          <p:cNvPr id="5" name="Shape 2"/>
          <p:cNvSpPr/>
          <p:nvPr/>
        </p:nvSpPr>
        <p:spPr>
          <a:xfrm>
            <a:off x="564356" y="1366242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678656" y="1487686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784" dirty="0"/>
          </a:p>
        </p:txBody>
      </p:sp>
      <p:sp>
        <p:nvSpPr>
          <p:cNvPr id="7" name="Text 4"/>
          <p:cNvSpPr/>
          <p:nvPr/>
        </p:nvSpPr>
        <p:spPr>
          <a:xfrm>
            <a:off x="900113" y="1493937"/>
            <a:ext cx="8590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 Guardrails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2893219" y="1366242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007519" y="1480542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3228975" y="1486793"/>
            <a:ext cx="79295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Static Analysis</a:t>
            </a:r>
            <a:endParaRPr lang="en-US" sz="834" dirty="0"/>
          </a:p>
        </p:txBody>
      </p:sp>
      <p:sp>
        <p:nvSpPr>
          <p:cNvPr id="11" name="Shape 8"/>
          <p:cNvSpPr/>
          <p:nvPr/>
        </p:nvSpPr>
        <p:spPr>
          <a:xfrm>
            <a:off x="564356" y="1859161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78656" y="1980605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784" dirty="0"/>
          </a:p>
        </p:txBody>
      </p:sp>
      <p:sp>
        <p:nvSpPr>
          <p:cNvPr id="13" name="Text 10"/>
          <p:cNvSpPr/>
          <p:nvPr/>
        </p:nvSpPr>
        <p:spPr>
          <a:xfrm>
            <a:off x="900113" y="1986855"/>
            <a:ext cx="14591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Blind Review (3 Reviewers)</a:t>
            </a:r>
            <a:endParaRPr lang="en-US" sz="834" dirty="0"/>
          </a:p>
        </p:txBody>
      </p:sp>
      <p:sp>
        <p:nvSpPr>
          <p:cNvPr id="14" name="Shape 11"/>
          <p:cNvSpPr/>
          <p:nvPr/>
        </p:nvSpPr>
        <p:spPr>
          <a:xfrm>
            <a:off x="2893219" y="1859161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007519" y="1973461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3228975" y="1979712"/>
            <a:ext cx="13716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Anti-Sycophancy Checks</a:t>
            </a:r>
            <a:endParaRPr lang="en-US" sz="834" dirty="0"/>
          </a:p>
        </p:txBody>
      </p:sp>
      <p:sp>
        <p:nvSpPr>
          <p:cNvPr id="17" name="Shape 14"/>
          <p:cNvSpPr/>
          <p:nvPr/>
        </p:nvSpPr>
        <p:spPr>
          <a:xfrm>
            <a:off x="564356" y="2352080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78656" y="2473523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900113" y="2479774"/>
            <a:ext cx="95369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Guardrails</a:t>
            </a:r>
            <a:endParaRPr lang="en-US" sz="834" dirty="0"/>
          </a:p>
        </p:txBody>
      </p:sp>
      <p:sp>
        <p:nvSpPr>
          <p:cNvPr id="20" name="Shape 17"/>
          <p:cNvSpPr/>
          <p:nvPr/>
        </p:nvSpPr>
        <p:spPr>
          <a:xfrm>
            <a:off x="2893219" y="2352080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007519" y="2466380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784" dirty="0"/>
          </a:p>
        </p:txBody>
      </p:sp>
      <p:sp>
        <p:nvSpPr>
          <p:cNvPr id="22" name="Text 19"/>
          <p:cNvSpPr/>
          <p:nvPr/>
        </p:nvSpPr>
        <p:spPr>
          <a:xfrm>
            <a:off x="3228975" y="2472630"/>
            <a:ext cx="132338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Severity-Based Blocking</a:t>
            </a:r>
            <a:endParaRPr lang="en-US" sz="834" dirty="0"/>
          </a:p>
        </p:txBody>
      </p:sp>
      <p:sp>
        <p:nvSpPr>
          <p:cNvPr id="23" name="Shape 20"/>
          <p:cNvSpPr/>
          <p:nvPr/>
        </p:nvSpPr>
        <p:spPr>
          <a:xfrm>
            <a:off x="564356" y="2844998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678656" y="2966442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900113" y="2972693"/>
            <a:ext cx="112692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Coverage Gates</a:t>
            </a:r>
            <a:endParaRPr lang="en-US" sz="834" dirty="0"/>
          </a:p>
        </p:txBody>
      </p:sp>
      <p:sp>
        <p:nvSpPr>
          <p:cNvPr id="26" name="Shape 23"/>
          <p:cNvSpPr/>
          <p:nvPr/>
        </p:nvSpPr>
        <p:spPr>
          <a:xfrm>
            <a:off x="2893219" y="2844998"/>
            <a:ext cx="2214563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3007519" y="2959298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784" dirty="0"/>
          </a:p>
        </p:txBody>
      </p:sp>
      <p:sp>
        <p:nvSpPr>
          <p:cNvPr id="28" name="Text 25"/>
          <p:cNvSpPr/>
          <p:nvPr/>
        </p:nvSpPr>
        <p:spPr>
          <a:xfrm>
            <a:off x="3228975" y="2965549"/>
            <a:ext cx="79474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Mock Detector</a:t>
            </a:r>
            <a:endParaRPr lang="en-US" sz="834" dirty="0"/>
          </a:p>
        </p:txBody>
      </p:sp>
      <p:sp>
        <p:nvSpPr>
          <p:cNvPr id="29" name="Shape 26"/>
          <p:cNvSpPr/>
          <p:nvPr/>
        </p:nvSpPr>
        <p:spPr>
          <a:xfrm>
            <a:off x="564356" y="3337917"/>
            <a:ext cx="4543425" cy="392906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678656" y="3452217"/>
            <a:ext cx="135731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</a:t>
            </a:r>
            <a:endParaRPr lang="en-US" sz="784" dirty="0"/>
          </a:p>
        </p:txBody>
      </p:sp>
      <p:sp>
        <p:nvSpPr>
          <p:cNvPr id="31" name="Text 28"/>
          <p:cNvSpPr/>
          <p:nvPr/>
        </p:nvSpPr>
        <p:spPr>
          <a:xfrm>
            <a:off x="900113" y="3458468"/>
            <a:ext cx="123051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 Mutation Detector</a:t>
            </a:r>
            <a:endParaRPr lang="en-US" sz="834" dirty="0"/>
          </a:p>
        </p:txBody>
      </p:sp>
      <p:sp>
        <p:nvSpPr>
          <p:cNvPr id="32" name="Shape 29"/>
          <p:cNvSpPr/>
          <p:nvPr/>
        </p:nvSpPr>
        <p:spPr>
          <a:xfrm>
            <a:off x="5441756" y="1353741"/>
            <a:ext cx="3028950" cy="2436019"/>
          </a:xfrm>
          <a:prstGeom prst="rect">
            <a:avLst/>
          </a:prstGeom>
          <a:solidFill>
            <a:srgbClr val="6366F1">
              <a:alpha val="5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5727506" y="1646634"/>
            <a:ext cx="2457450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987" b="1" spc="2" kern="0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HUMANEVAL SUCCESS</a:t>
            </a:r>
            <a:endParaRPr lang="en-US" sz="987" dirty="0"/>
          </a:p>
        </p:txBody>
      </p:sp>
      <p:sp>
        <p:nvSpPr>
          <p:cNvPr id="34" name="Text 31"/>
          <p:cNvSpPr/>
          <p:nvPr/>
        </p:nvSpPr>
        <p:spPr>
          <a:xfrm>
            <a:off x="5727506" y="1962745"/>
            <a:ext cx="2457450" cy="6786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900"/>
              </a:lnSpc>
              <a:buNone/>
            </a:pPr>
            <a:r>
              <a:rPr lang="en-US" sz="3731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98.78%</a:t>
            </a:r>
            <a:endParaRPr lang="en-US" sz="3731" dirty="0"/>
          </a:p>
        </p:txBody>
      </p:sp>
      <p:sp>
        <p:nvSpPr>
          <p:cNvPr id="35" name="Text 32"/>
          <p:cNvSpPr/>
          <p:nvPr/>
        </p:nvSpPr>
        <p:spPr>
          <a:xfrm>
            <a:off x="5727506" y="2712839"/>
            <a:ext cx="245745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162/164 Problems Solved</a:t>
            </a:r>
            <a:endParaRPr lang="en-US" sz="942" dirty="0"/>
          </a:p>
        </p:txBody>
      </p:sp>
      <p:sp>
        <p:nvSpPr>
          <p:cNvPr id="36" name="Text 33"/>
          <p:cNvSpPr/>
          <p:nvPr/>
        </p:nvSpPr>
        <p:spPr>
          <a:xfrm>
            <a:off x="5727506" y="3082528"/>
            <a:ext cx="2457450" cy="414338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/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ctr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9 Gates + RARV Cycle Integration</a:t>
            </a:r>
            <a:endParaRPr lang="en-US" sz="727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Multi-Provider &amp; Memory Systems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6435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" y="1371600"/>
            <a:ext cx="17145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1798439"/>
            <a:ext cx="20193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4-PROVIDER ERA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2177058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8694" y="2148483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Claude Code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Full multi-agent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 support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2613161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8694" y="2584586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Cline CLI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Near-full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subagent/MCP support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3049265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8694" y="3020690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Aider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18+ model provider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</a:t>
            </a:r>
            <a:endParaRPr lang="en-US" sz="784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956" y="3485369"/>
            <a:ext cx="100013" cy="100013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978694" y="3456794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Codex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Sequential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784" dirty="0"/>
          </a:p>
        </p:txBody>
      </p:sp>
      <p:sp>
        <p:nvSpPr>
          <p:cNvPr id="15" name="Shape 7"/>
          <p:cNvSpPr/>
          <p:nvPr/>
        </p:nvSpPr>
        <p:spPr>
          <a:xfrm>
            <a:off x="332661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216" y="1371600"/>
            <a:ext cx="228600" cy="22860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555216" y="1798439"/>
            <a:ext cx="20193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MEMORY SYSTEMS</a:t>
            </a:r>
            <a:endParaRPr lang="en-US" sz="1193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5216" y="2177058"/>
            <a:ext cx="100013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740953" y="2148483"/>
            <a:ext cx="1771650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Episodic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Full interaction traces</a:t>
            </a:r>
            <a:endParaRPr lang="en-US" sz="784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216" y="2453153"/>
            <a:ext cx="87511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728451" y="2424578"/>
            <a:ext cx="173414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Semantic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Generalized patterns</a:t>
            </a:r>
            <a:endParaRPr lang="en-US" sz="784" dirty="0"/>
          </a:p>
        </p:txBody>
      </p:sp>
      <p:pic>
        <p:nvPicPr>
          <p:cNvPr id="2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55216" y="2729247"/>
            <a:ext cx="125016" cy="100013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3765956" y="2700672"/>
            <a:ext cx="1808569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Zettelkasten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Cross-note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linking</a:t>
            </a:r>
            <a:endParaRPr lang="en-US" sz="784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55216" y="3165351"/>
            <a:ext cx="100013" cy="100013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3740953" y="3136776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Consolidation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Experience to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Knowledge</a:t>
            </a:r>
            <a:endParaRPr lang="en-US" sz="784" dirty="0"/>
          </a:p>
        </p:txBody>
      </p:sp>
      <p:sp>
        <p:nvSpPr>
          <p:cNvPr id="26" name="Shape 13"/>
          <p:cNvSpPr/>
          <p:nvPr/>
        </p:nvSpPr>
        <p:spPr>
          <a:xfrm>
            <a:off x="6088875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7475" y="1371600"/>
            <a:ext cx="228600" cy="228600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317475" y="1798439"/>
            <a:ext cx="20193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ISOLATION</a:t>
            </a:r>
            <a:endParaRPr lang="en-US" sz="1193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7475" y="2384227"/>
            <a:ext cx="87511" cy="100013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490711" y="2355652"/>
            <a:ext cx="1725216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--worktree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Isolated execution</a:t>
            </a:r>
            <a:endParaRPr lang="en-US" sz="784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17475" y="2660321"/>
            <a:ext cx="87511" cy="100013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6490711" y="2631746"/>
            <a:ext cx="1732359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--pr / --ship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Git automation</a:t>
            </a:r>
            <a:endParaRPr lang="en-US" sz="784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17475" y="2936416"/>
            <a:ext cx="112514" cy="100013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6515714" y="2907841"/>
            <a:ext cx="1816298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--detach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Background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784" dirty="0"/>
          </a:p>
        </p:txBody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17475" y="3212511"/>
            <a:ext cx="100013" cy="100013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6503212" y="3183936"/>
            <a:ext cx="1752005" cy="1617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Presets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AWS/GCP/Azure/Kube</a:t>
            </a:r>
            <a:endParaRPr lang="en-US" sz="78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Platform Hardening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6435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956" y="1371600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1798439"/>
            <a:ext cx="20193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SESSIONS</a:t>
            </a:r>
            <a:endParaRPr lang="en-US" sz="1193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956" y="2384227"/>
            <a:ext cx="100013" cy="10001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78694" y="2355652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 run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Parallel execution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multiple issues</a:t>
            </a:r>
            <a:endParaRPr lang="en-US" sz="784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56" y="2820330"/>
            <a:ext cx="100013" cy="100013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78694" y="2791755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Session Locking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Per-session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PID/lock files</a:t>
            </a:r>
            <a:endParaRPr lang="en-US" sz="784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956" y="3256434"/>
            <a:ext cx="100013" cy="100013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978694" y="3227859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Detached Mode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No-hup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background runs</a:t>
            </a:r>
            <a:endParaRPr lang="en-US" sz="784" dirty="0"/>
          </a:p>
        </p:txBody>
      </p:sp>
      <p:sp>
        <p:nvSpPr>
          <p:cNvPr id="13" name="Shape 6"/>
          <p:cNvSpPr/>
          <p:nvPr/>
        </p:nvSpPr>
        <p:spPr>
          <a:xfrm>
            <a:off x="3326616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55216" y="1371600"/>
            <a:ext cx="228600" cy="228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3555216" y="1798439"/>
            <a:ext cx="2019309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MIGRATION ENGINE V2</a:t>
            </a:r>
            <a:endParaRPr lang="en-US" sz="1193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5216" y="2384227"/>
            <a:ext cx="100013" cy="100013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3740953" y="2355652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Deterministic Hooks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post_file_edit, post_step</a:t>
            </a:r>
            <a:endParaRPr lang="en-US" sz="784" dirty="0"/>
          </a:p>
        </p:txBody>
      </p:sp>
      <p:pic>
        <p:nvPicPr>
          <p:cNvPr id="1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55216" y="2820330"/>
            <a:ext cx="100013" cy="100013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3740953" y="2791755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Phase Gates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Immutable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verification gates</a:t>
            </a:r>
            <a:endParaRPr lang="en-US" sz="784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55216" y="3256434"/>
            <a:ext cx="100013" cy="100013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3740953" y="3227859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Auto-Rollback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Immediate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recovery on fail</a:t>
            </a:r>
            <a:endParaRPr lang="en-US" sz="784" dirty="0"/>
          </a:p>
        </p:txBody>
      </p:sp>
      <p:sp>
        <p:nvSpPr>
          <p:cNvPr id="22" name="Shape 11"/>
          <p:cNvSpPr/>
          <p:nvPr/>
        </p:nvSpPr>
        <p:spPr>
          <a:xfrm>
            <a:off x="6088875" y="1121569"/>
            <a:ext cx="2476509" cy="401478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17475" y="1371600"/>
            <a:ext cx="228600" cy="228600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6317475" y="1798439"/>
            <a:ext cx="2019309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193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17475" y="2177058"/>
            <a:ext cx="100013" cy="100013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6503212" y="2148483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SQLite State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High-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state mirroring</a:t>
            </a:r>
            <a:endParaRPr lang="en-US" sz="784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17475" y="2613161"/>
            <a:ext cx="100013" cy="100013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6503212" y="2584586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Audit Trails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Full trace of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actions</a:t>
            </a:r>
            <a:endParaRPr lang="en-US" sz="784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17475" y="3049265"/>
            <a:ext cx="100013" cy="100013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6503212" y="3020690"/>
            <a:ext cx="1833572" cy="3218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Dashboard v2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Real-time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monitoring + Live App Preview</a:t>
            </a:r>
            <a:endParaRPr lang="en-US" sz="78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Real-World Use Cases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564356" y="1050131"/>
            <a:ext cx="8001000" cy="323255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806" y="1147465"/>
            <a:ext cx="128588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7269" y="1135856"/>
            <a:ext cx="565070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BMAD METHOD NATIVE INTEGRATION: Consume product briefs and PRDs directly via --bmad-project</a:t>
            </a:r>
            <a:endParaRPr lang="en-US" sz="784" dirty="0"/>
          </a:p>
        </p:txBody>
      </p:sp>
      <p:sp>
        <p:nvSpPr>
          <p:cNvPr id="7" name="Shape 3"/>
          <p:cNvSpPr/>
          <p:nvPr/>
        </p:nvSpPr>
        <p:spPr>
          <a:xfrm>
            <a:off x="564356" y="1501973"/>
            <a:ext cx="3893344" cy="156716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06" y="1682353"/>
            <a:ext cx="171450" cy="1714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14413" y="1673423"/>
            <a:ext cx="1839516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Task Management SaaS</a:t>
            </a:r>
            <a:endParaRPr lang="en-US" sz="1090" dirty="0"/>
          </a:p>
        </p:txBody>
      </p:sp>
      <p:sp>
        <p:nvSpPr>
          <p:cNvPr id="10" name="Text 5"/>
          <p:cNvSpPr/>
          <p:nvPr/>
        </p:nvSpPr>
        <p:spPr>
          <a:xfrm>
            <a:off x="735806" y="1977033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application with complex auth and real-time sync. Built from BMAD epic/story breakdowns.</a:t>
            </a:r>
            <a:endParaRPr lang="en-US" sz="834" dirty="0"/>
          </a:p>
        </p:txBody>
      </p:sp>
      <p:sp>
        <p:nvSpPr>
          <p:cNvPr id="11" name="Shape 6"/>
          <p:cNvSpPr/>
          <p:nvPr/>
        </p:nvSpPr>
        <p:spPr>
          <a:xfrm>
            <a:off x="735806" y="2522637"/>
            <a:ext cx="519708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735806" y="2522637"/>
            <a:ext cx="519708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Next.js</a:t>
            </a:r>
            <a:endParaRPr lang="en-US" sz="621" dirty="0"/>
          </a:p>
        </p:txBody>
      </p:sp>
      <p:sp>
        <p:nvSpPr>
          <p:cNvPr id="13" name="Shape 8"/>
          <p:cNvSpPr/>
          <p:nvPr/>
        </p:nvSpPr>
        <p:spPr>
          <a:xfrm>
            <a:off x="1298377" y="2522637"/>
            <a:ext cx="675084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9"/>
          <p:cNvSpPr/>
          <p:nvPr/>
        </p:nvSpPr>
        <p:spPr>
          <a:xfrm>
            <a:off x="1298377" y="2522637"/>
            <a:ext cx="675084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TypeScript</a:t>
            </a:r>
            <a:endParaRPr lang="en-US" sz="621" dirty="0"/>
          </a:p>
        </p:txBody>
      </p:sp>
      <p:sp>
        <p:nvSpPr>
          <p:cNvPr id="15" name="Shape 10"/>
          <p:cNvSpPr/>
          <p:nvPr/>
        </p:nvSpPr>
        <p:spPr>
          <a:xfrm>
            <a:off x="2016323" y="2522637"/>
            <a:ext cx="467916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2016323" y="2522637"/>
            <a:ext cx="467916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Prisma</a:t>
            </a:r>
            <a:endParaRPr lang="en-US" sz="621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06" y="2802136"/>
            <a:ext cx="107156" cy="8572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85825" y="2792313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  <p:sp>
        <p:nvSpPr>
          <p:cNvPr id="19" name="Shape 13"/>
          <p:cNvSpPr/>
          <p:nvPr/>
        </p:nvSpPr>
        <p:spPr>
          <a:xfrm>
            <a:off x="4672013" y="1501973"/>
            <a:ext cx="3893344" cy="1567160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3463" y="1682353"/>
            <a:ext cx="192881" cy="17145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43500" y="1673423"/>
            <a:ext cx="169485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E-Commerce Platform</a:t>
            </a:r>
            <a:endParaRPr lang="en-US" sz="1090" dirty="0"/>
          </a:p>
        </p:txBody>
      </p:sp>
      <p:sp>
        <p:nvSpPr>
          <p:cNvPr id="22" name="Text 15"/>
          <p:cNvSpPr/>
          <p:nvPr/>
        </p:nvSpPr>
        <p:spPr>
          <a:xfrm>
            <a:off x="4843463" y="1977033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High-performance React storefront with Stripe integration. Generated from a single BMAD PRD.</a:t>
            </a:r>
            <a:endParaRPr lang="en-US" sz="834" dirty="0"/>
          </a:p>
        </p:txBody>
      </p:sp>
      <p:sp>
        <p:nvSpPr>
          <p:cNvPr id="23" name="Shape 16"/>
          <p:cNvSpPr/>
          <p:nvPr/>
        </p:nvSpPr>
        <p:spPr>
          <a:xfrm>
            <a:off x="4843463" y="2515493"/>
            <a:ext cx="416123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17"/>
          <p:cNvSpPr/>
          <p:nvPr/>
        </p:nvSpPr>
        <p:spPr>
          <a:xfrm>
            <a:off x="4843463" y="2515493"/>
            <a:ext cx="416123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621" dirty="0"/>
          </a:p>
        </p:txBody>
      </p:sp>
      <p:sp>
        <p:nvSpPr>
          <p:cNvPr id="25" name="Shape 18"/>
          <p:cNvSpPr/>
          <p:nvPr/>
        </p:nvSpPr>
        <p:spPr>
          <a:xfrm>
            <a:off x="5302448" y="2515493"/>
            <a:ext cx="519708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Text 19"/>
          <p:cNvSpPr/>
          <p:nvPr/>
        </p:nvSpPr>
        <p:spPr>
          <a:xfrm>
            <a:off x="5302448" y="2515493"/>
            <a:ext cx="519708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Node.js</a:t>
            </a:r>
            <a:endParaRPr lang="en-US" sz="621" dirty="0"/>
          </a:p>
        </p:txBody>
      </p:sp>
      <p:sp>
        <p:nvSpPr>
          <p:cNvPr id="27" name="Shape 20"/>
          <p:cNvSpPr/>
          <p:nvPr/>
        </p:nvSpPr>
        <p:spPr>
          <a:xfrm>
            <a:off x="5865019" y="2515493"/>
            <a:ext cx="467916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Text 21"/>
          <p:cNvSpPr/>
          <p:nvPr/>
        </p:nvSpPr>
        <p:spPr>
          <a:xfrm>
            <a:off x="5865019" y="2515493"/>
            <a:ext cx="467916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Stripe</a:t>
            </a:r>
            <a:endParaRPr lang="en-US" sz="621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3463" y="2787848"/>
            <a:ext cx="107156" cy="8572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4993481" y="2778026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  <p:sp>
        <p:nvSpPr>
          <p:cNvPr id="31" name="Shape 23"/>
          <p:cNvSpPr/>
          <p:nvPr/>
        </p:nvSpPr>
        <p:spPr>
          <a:xfrm>
            <a:off x="564356" y="3269159"/>
            <a:ext cx="3893344" cy="158144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5806" y="3449538"/>
            <a:ext cx="192881" cy="17145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35844" y="3440609"/>
            <a:ext cx="1657350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Developer Dashboard</a:t>
            </a:r>
            <a:endParaRPr lang="en-US" sz="1090" dirty="0"/>
          </a:p>
        </p:txBody>
      </p:sp>
      <p:sp>
        <p:nvSpPr>
          <p:cNvPr id="34" name="Text 25"/>
          <p:cNvSpPr/>
          <p:nvPr/>
        </p:nvSpPr>
        <p:spPr>
          <a:xfrm>
            <a:off x="735806" y="3744218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analytics dashboard with D3.js visualizations. Integrated with SQLite state layer.</a:t>
            </a:r>
            <a:endParaRPr lang="en-US" sz="834" dirty="0"/>
          </a:p>
        </p:txBody>
      </p:sp>
      <p:sp>
        <p:nvSpPr>
          <p:cNvPr id="35" name="Shape 26"/>
          <p:cNvSpPr/>
          <p:nvPr/>
        </p:nvSpPr>
        <p:spPr>
          <a:xfrm>
            <a:off x="735806" y="4304109"/>
            <a:ext cx="416123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6" name="Text 27"/>
          <p:cNvSpPr/>
          <p:nvPr/>
        </p:nvSpPr>
        <p:spPr>
          <a:xfrm>
            <a:off x="735806" y="4304109"/>
            <a:ext cx="416123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React</a:t>
            </a:r>
            <a:endParaRPr lang="en-US" sz="621" dirty="0"/>
          </a:p>
        </p:txBody>
      </p:sp>
      <p:sp>
        <p:nvSpPr>
          <p:cNvPr id="37" name="Shape 28"/>
          <p:cNvSpPr/>
          <p:nvPr/>
        </p:nvSpPr>
        <p:spPr>
          <a:xfrm>
            <a:off x="1194792" y="4304109"/>
            <a:ext cx="416123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8" name="Text 29"/>
          <p:cNvSpPr/>
          <p:nvPr/>
        </p:nvSpPr>
        <p:spPr>
          <a:xfrm>
            <a:off x="1194792" y="4304109"/>
            <a:ext cx="416123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D3.js</a:t>
            </a:r>
            <a:endParaRPr lang="en-US" sz="621" dirty="0"/>
          </a:p>
        </p:txBody>
      </p:sp>
      <p:sp>
        <p:nvSpPr>
          <p:cNvPr id="39" name="Shape 30"/>
          <p:cNvSpPr/>
          <p:nvPr/>
        </p:nvSpPr>
        <p:spPr>
          <a:xfrm>
            <a:off x="1653778" y="4304109"/>
            <a:ext cx="623292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0" name="Text 31"/>
          <p:cNvSpPr/>
          <p:nvPr/>
        </p:nvSpPr>
        <p:spPr>
          <a:xfrm>
            <a:off x="1653778" y="4304109"/>
            <a:ext cx="623292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WebSocket</a:t>
            </a:r>
            <a:endParaRPr lang="en-US" sz="621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806" y="4583609"/>
            <a:ext cx="107156" cy="857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885825" y="4573786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  <p:sp>
        <p:nvSpPr>
          <p:cNvPr id="43" name="Shape 33"/>
          <p:cNvSpPr/>
          <p:nvPr/>
        </p:nvSpPr>
        <p:spPr>
          <a:xfrm>
            <a:off x="4672013" y="3269159"/>
            <a:ext cx="3893344" cy="1581448"/>
          </a:xfrm>
          <a:prstGeom prst="rect">
            <a:avLst/>
          </a:prstGeom>
          <a:solidFill>
            <a:srgbClr val="FFFFFF">
              <a:alpha val="2000"/>
            </a:srgbClr>
          </a:solidFill>
          <a:ln w="9144">
            <a:solidFill>
              <a:srgbClr val="6366F1">
                <a:alpha val="3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3463" y="3456682"/>
            <a:ext cx="171450" cy="171450"/>
          </a:xfrm>
          <a:prstGeom prst="rect">
            <a:avLst/>
          </a:prstGeom>
        </p:spPr>
      </p:pic>
      <p:sp>
        <p:nvSpPr>
          <p:cNvPr id="45" name="Text 34"/>
          <p:cNvSpPr/>
          <p:nvPr/>
        </p:nvSpPr>
        <p:spPr>
          <a:xfrm>
            <a:off x="5122069" y="3447752"/>
            <a:ext cx="1848445" cy="189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Landing Page Generator</a:t>
            </a:r>
            <a:endParaRPr lang="en-US" sz="1090" dirty="0"/>
          </a:p>
        </p:txBody>
      </p:sp>
      <p:sp>
        <p:nvSpPr>
          <p:cNvPr id="46" name="Text 35"/>
          <p:cNvSpPr/>
          <p:nvPr/>
        </p:nvSpPr>
        <p:spPr>
          <a:xfrm>
            <a:off x="4843463" y="3751362"/>
            <a:ext cx="3550444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marketing engine with A/B testing. Deployed via Vercel with autonomous IaC.</a:t>
            </a:r>
            <a:endParaRPr lang="en-US" sz="834" dirty="0"/>
          </a:p>
        </p:txBody>
      </p:sp>
      <p:sp>
        <p:nvSpPr>
          <p:cNvPr id="47" name="Shape 36"/>
          <p:cNvSpPr/>
          <p:nvPr/>
        </p:nvSpPr>
        <p:spPr>
          <a:xfrm>
            <a:off x="4843463" y="4304109"/>
            <a:ext cx="519708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8" name="Text 37"/>
          <p:cNvSpPr/>
          <p:nvPr/>
        </p:nvSpPr>
        <p:spPr>
          <a:xfrm>
            <a:off x="4843463" y="4304109"/>
            <a:ext cx="519708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Next.js</a:t>
            </a:r>
            <a:endParaRPr lang="en-US" sz="621" dirty="0"/>
          </a:p>
        </p:txBody>
      </p:sp>
      <p:sp>
        <p:nvSpPr>
          <p:cNvPr id="49" name="Shape 38"/>
          <p:cNvSpPr/>
          <p:nvPr/>
        </p:nvSpPr>
        <p:spPr>
          <a:xfrm>
            <a:off x="5406033" y="4304109"/>
            <a:ext cx="571500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0" name="Text 39"/>
          <p:cNvSpPr/>
          <p:nvPr/>
        </p:nvSpPr>
        <p:spPr>
          <a:xfrm>
            <a:off x="5406033" y="4304109"/>
            <a:ext cx="571500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Tailwind</a:t>
            </a:r>
            <a:endParaRPr lang="en-US" sz="621" dirty="0"/>
          </a:p>
        </p:txBody>
      </p:sp>
      <p:sp>
        <p:nvSpPr>
          <p:cNvPr id="51" name="Shape 40"/>
          <p:cNvSpPr/>
          <p:nvPr/>
        </p:nvSpPr>
        <p:spPr>
          <a:xfrm>
            <a:off x="6020395" y="4304109"/>
            <a:ext cx="467916" cy="183952"/>
          </a:xfrm>
          <a:prstGeom prst="rect">
            <a:avLst/>
          </a:prstGeom>
          <a:solidFill>
            <a:srgbClr val="6366F1">
              <a:alpha val="10000"/>
            </a:srgbClr>
          </a:solidFill>
          <a:ln w="9144">
            <a:solidFill>
              <a:srgbClr val="6366F1">
                <a:alpha val="2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41"/>
          <p:cNvSpPr/>
          <p:nvPr/>
        </p:nvSpPr>
        <p:spPr>
          <a:xfrm>
            <a:off x="6020395" y="4304109"/>
            <a:ext cx="467916" cy="183952"/>
          </a:xfrm>
          <a:prstGeom prst="rect">
            <a:avLst/>
          </a:prstGeom>
          <a:noFill/>
          <a:ln/>
        </p:spPr>
        <p:txBody>
          <a:bodyPr wrap="square" lIns="85090" tIns="34036" rIns="85090" bIns="34036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OpenAI</a:t>
            </a:r>
            <a:endParaRPr lang="en-US" sz="621" dirty="0"/>
          </a:p>
        </p:txBody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43463" y="4583609"/>
            <a:ext cx="107156" cy="85725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4993481" y="4573786"/>
            <a:ext cx="1005483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84" b="1" dirty="0">
                <a:solidFill>
                  <a:srgbClr val="10B98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AUTONOMOUSLY</a:t>
            </a:r>
            <a:endParaRPr lang="en-US" sz="58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Loki Mode is Better (v7.24.0)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050131"/>
            <a:ext cx="160020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</a:t>
            </a:r>
            <a:endParaRPr lang="en-US" sz="885" dirty="0"/>
          </a:p>
        </p:txBody>
      </p:sp>
      <p:sp>
        <p:nvSpPr>
          <p:cNvPr id="5" name="Shape 2"/>
          <p:cNvSpPr/>
          <p:nvPr/>
        </p:nvSpPr>
        <p:spPr>
          <a:xfrm>
            <a:off x="2164556" y="1050131"/>
            <a:ext cx="3200400" cy="448270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2164556" y="1484114"/>
            <a:ext cx="3200400" cy="14288"/>
          </a:xfrm>
          <a:prstGeom prst="rect">
            <a:avLst/>
          </a:prstGeom>
          <a:solidFill>
            <a:srgbClr val="ECECEE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2164556" y="1050131"/>
            <a:ext cx="320040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MODE (AUTONOMI)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5364956" y="1050131"/>
            <a:ext cx="3200400" cy="448270"/>
          </a:xfrm>
          <a:prstGeom prst="rect">
            <a:avLst/>
          </a:prstGeom>
          <a:noFill/>
          <a:ln/>
        </p:spPr>
        <p:txBody>
          <a:bodyPr wrap="square" lIns="170053" tIns="170053" rIns="170053" bIns="170053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CREWAI / AUTOGEN / LANGGRAPH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564356" y="1498402"/>
            <a:ext cx="1600200" cy="423267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Lifecycle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2164556" y="1498402"/>
            <a:ext cx="3200400" cy="423267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5350669" y="1498402"/>
            <a:ext cx="14288" cy="423267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2164556" y="1914525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13" name="Shape 10"/>
          <p:cNvSpPr/>
          <p:nvPr/>
        </p:nvSpPr>
        <p:spPr>
          <a:xfrm>
            <a:off x="2164556" y="1498402"/>
            <a:ext cx="14288" cy="423267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7431" y="1644848"/>
            <a:ext cx="128588" cy="128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493169" y="1632347"/>
            <a:ext cx="22377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PRD to Deployment + Business Ops</a:t>
            </a:r>
            <a:endParaRPr lang="en-US" sz="885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507831" y="1646634"/>
            <a:ext cx="128588" cy="12858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93569" y="1634133"/>
            <a:ext cx="1934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Primarily Code or Task focused</a:t>
            </a:r>
            <a:endParaRPr lang="en-US" sz="942" dirty="0"/>
          </a:p>
        </p:txBody>
      </p:sp>
      <p:sp>
        <p:nvSpPr>
          <p:cNvPr id="18" name="Text 13"/>
          <p:cNvSpPr/>
          <p:nvPr/>
        </p:nvSpPr>
        <p:spPr>
          <a:xfrm>
            <a:off x="564356" y="1921669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Parallelism</a:t>
            </a:r>
            <a:endParaRPr lang="en-US" sz="885" dirty="0"/>
          </a:p>
        </p:txBody>
      </p:sp>
      <p:sp>
        <p:nvSpPr>
          <p:cNvPr id="19" name="Shape 14"/>
          <p:cNvSpPr/>
          <p:nvPr/>
        </p:nvSpPr>
        <p:spPr>
          <a:xfrm>
            <a:off x="2164556" y="1921669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5350669" y="192166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2164556" y="2334220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22" name="Shape 17"/>
          <p:cNvSpPr/>
          <p:nvPr/>
        </p:nvSpPr>
        <p:spPr>
          <a:xfrm>
            <a:off x="2164556" y="192166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7431" y="2066330"/>
            <a:ext cx="128588" cy="12858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2493169" y="2053828"/>
            <a:ext cx="23092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 Agents + Recursive Sub-Planning</a:t>
            </a:r>
            <a:endParaRPr lang="en-US" sz="885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>
            <a:alphaModFix amt="50000"/>
          </a:blip>
          <a:stretch>
            <a:fillRect/>
          </a:stretch>
        </p:blipFill>
        <p:spPr>
          <a:xfrm>
            <a:off x="5507831" y="2066330"/>
            <a:ext cx="128588" cy="128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693569" y="2053828"/>
            <a:ext cx="18538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Typically linear or small teams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564356" y="2341364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885" dirty="0"/>
          </a:p>
        </p:txBody>
      </p:sp>
      <p:sp>
        <p:nvSpPr>
          <p:cNvPr id="28" name="Shape 21"/>
          <p:cNvSpPr/>
          <p:nvPr/>
        </p:nvSpPr>
        <p:spPr>
          <a:xfrm>
            <a:off x="2164556" y="2341364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29" name="Shape 22"/>
          <p:cNvSpPr/>
          <p:nvPr/>
        </p:nvSpPr>
        <p:spPr>
          <a:xfrm>
            <a:off x="5350669" y="2341364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2164556" y="2753916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2164556" y="2341364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07431" y="2486025"/>
            <a:ext cx="128588" cy="1285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2493169" y="2473523"/>
            <a:ext cx="17805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9-Gate Blind Review + CoVe</a:t>
            </a:r>
            <a:endParaRPr lang="en-US" sz="885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>
            <a:alphaModFix amt="50000"/>
          </a:blip>
          <a:stretch>
            <a:fillRect/>
          </a:stretch>
        </p:blipFill>
        <p:spPr>
          <a:xfrm>
            <a:off x="5507831" y="2486025"/>
            <a:ext cx="128588" cy="128588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693569" y="2473523"/>
            <a:ext cx="20448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reflection or manual review</a:t>
            </a:r>
            <a:endParaRPr lang="en-US" sz="942" dirty="0"/>
          </a:p>
        </p:txBody>
      </p:sp>
      <p:sp>
        <p:nvSpPr>
          <p:cNvPr id="36" name="Text 27"/>
          <p:cNvSpPr/>
          <p:nvPr/>
        </p:nvSpPr>
        <p:spPr>
          <a:xfrm>
            <a:off x="564356" y="2761059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</a:t>
            </a:r>
            <a:endParaRPr lang="en-US" sz="885" dirty="0"/>
          </a:p>
        </p:txBody>
      </p:sp>
      <p:sp>
        <p:nvSpPr>
          <p:cNvPr id="37" name="Shape 28"/>
          <p:cNvSpPr/>
          <p:nvPr/>
        </p:nvSpPr>
        <p:spPr>
          <a:xfrm>
            <a:off x="2164556" y="2761059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38" name="Shape 29"/>
          <p:cNvSpPr/>
          <p:nvPr/>
        </p:nvSpPr>
        <p:spPr>
          <a:xfrm>
            <a:off x="5350669" y="276105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39" name="Shape 30"/>
          <p:cNvSpPr/>
          <p:nvPr/>
        </p:nvSpPr>
        <p:spPr>
          <a:xfrm>
            <a:off x="2164556" y="3173611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40" name="Shape 31"/>
          <p:cNvSpPr/>
          <p:nvPr/>
        </p:nvSpPr>
        <p:spPr>
          <a:xfrm>
            <a:off x="2164556" y="2761059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7431" y="2905720"/>
            <a:ext cx="128588" cy="12858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2493169" y="2893219"/>
            <a:ext cx="258960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Concurrent Sessions + Per-Session Lock</a:t>
            </a:r>
            <a:endParaRPr lang="en-US" sz="885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>
            <a:alphaModFix amt="50000"/>
          </a:blip>
          <a:stretch>
            <a:fillRect/>
          </a:stretch>
        </p:blipFill>
        <p:spPr>
          <a:xfrm>
            <a:off x="5507831" y="2905720"/>
            <a:ext cx="128588" cy="128588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5693569" y="2893219"/>
            <a:ext cx="17537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execution thread only</a:t>
            </a:r>
            <a:endParaRPr lang="en-US" sz="942" dirty="0"/>
          </a:p>
        </p:txBody>
      </p:sp>
      <p:sp>
        <p:nvSpPr>
          <p:cNvPr id="45" name="Text 34"/>
          <p:cNvSpPr/>
          <p:nvPr/>
        </p:nvSpPr>
        <p:spPr>
          <a:xfrm>
            <a:off x="564356" y="3180755"/>
            <a:ext cx="1600200" cy="419695"/>
          </a:xfrm>
          <a:prstGeom prst="rect">
            <a:avLst/>
          </a:prstGeom>
          <a:noFill/>
          <a:ln/>
        </p:spPr>
        <p:txBody>
          <a:bodyPr wrap="square" lIns="170053" tIns="153035" rIns="170053" bIns="153035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</a:t>
            </a:r>
            <a:endParaRPr lang="en-US" sz="885" dirty="0"/>
          </a:p>
        </p:txBody>
      </p:sp>
      <p:sp>
        <p:nvSpPr>
          <p:cNvPr id="46" name="Shape 35"/>
          <p:cNvSpPr/>
          <p:nvPr/>
        </p:nvSpPr>
        <p:spPr>
          <a:xfrm>
            <a:off x="2164556" y="3180755"/>
            <a:ext cx="3200400" cy="419695"/>
          </a:xfrm>
          <a:prstGeom prst="rect">
            <a:avLst/>
          </a:prstGeom>
          <a:solidFill>
            <a:srgbClr val="6366F1">
              <a:alpha val="5000"/>
            </a:srgbClr>
          </a:solidFill>
          <a:ln/>
        </p:spPr>
        <p:txBody>
          <a:bodyPr/>
          <a:p/>
        </p:txBody>
      </p:sp>
      <p:sp>
        <p:nvSpPr>
          <p:cNvPr id="47" name="Shape 36"/>
          <p:cNvSpPr/>
          <p:nvPr/>
        </p:nvSpPr>
        <p:spPr>
          <a:xfrm>
            <a:off x="5350669" y="3180755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sp>
        <p:nvSpPr>
          <p:cNvPr id="48" name="Shape 37"/>
          <p:cNvSpPr/>
          <p:nvPr/>
        </p:nvSpPr>
        <p:spPr>
          <a:xfrm>
            <a:off x="2164556" y="3593306"/>
            <a:ext cx="3200400" cy="7144"/>
          </a:xfrm>
          <a:prstGeom prst="rect">
            <a:avLst/>
          </a:prstGeom>
          <a:solidFill>
            <a:srgbClr val="F6F6F7"/>
          </a:solidFill>
          <a:ln/>
        </p:spPr>
        <p:txBody>
          <a:bodyPr/>
          <a:p/>
        </p:txBody>
      </p:sp>
      <p:sp>
        <p:nvSpPr>
          <p:cNvPr id="49" name="Shape 38"/>
          <p:cNvSpPr/>
          <p:nvPr/>
        </p:nvSpPr>
        <p:spPr>
          <a:xfrm>
            <a:off x="2164556" y="3180755"/>
            <a:ext cx="14288" cy="419695"/>
          </a:xfrm>
          <a:prstGeom prst="rect">
            <a:avLst/>
          </a:prstGeom>
          <a:solidFill>
            <a:srgbClr val="6366F1"/>
          </a:solidFill>
          <a:ln/>
        </p:spPr>
        <p:txBody>
          <a:bodyPr/>
          <a:p/>
        </p:txBody>
      </p:sp>
      <p:pic>
        <p:nvPicPr>
          <p:cNvPr id="5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07431" y="3325416"/>
            <a:ext cx="128588" cy="128588"/>
          </a:xfrm>
          <a:prstGeom prst="rect">
            <a:avLst/>
          </a:prstGeom>
        </p:spPr>
      </p:pic>
      <p:sp>
        <p:nvSpPr>
          <p:cNvPr id="51" name="Text 39"/>
          <p:cNvSpPr/>
          <p:nvPr/>
        </p:nvSpPr>
        <p:spPr>
          <a:xfrm>
            <a:off x="2493169" y="3312914"/>
            <a:ext cx="181272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RARV + Migration Engine V2</a:t>
            </a:r>
            <a:endParaRPr lang="en-US" sz="885" dirty="0"/>
          </a:p>
        </p:txBody>
      </p:sp>
      <p:pic>
        <p:nvPicPr>
          <p:cNvPr id="52" name="Image 10" descr="preencoded.png">    </p:cNvPr>
          <p:cNvPicPr>
            <a:picLocks noChangeAspect="1"/>
          </p:cNvPicPr>
          <p:nvPr/>
        </p:nvPicPr>
        <p:blipFill>
          <a:blip r:embed="rId11">
            <a:alphaModFix amt="50000"/>
          </a:blip>
          <a:stretch>
            <a:fillRect/>
          </a:stretch>
        </p:blipFill>
        <p:spPr>
          <a:xfrm>
            <a:off x="5507831" y="3325416"/>
            <a:ext cx="128588" cy="128588"/>
          </a:xfrm>
          <a:prstGeom prst="rect">
            <a:avLst/>
          </a:prstGeom>
        </p:spPr>
      </p:pic>
      <p:sp>
        <p:nvSpPr>
          <p:cNvPr id="53" name="Text 40"/>
          <p:cNvSpPr/>
          <p:nvPr/>
        </p:nvSpPr>
        <p:spPr>
          <a:xfrm>
            <a:off x="5693569" y="3312914"/>
            <a:ext cx="18948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Loop or Graph patterns</a:t>
            </a:r>
            <a:endParaRPr lang="en-US" sz="94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the Mind: Lokesh Mure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121569"/>
            <a:ext cx="1435894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Lokesh Mure</a:t>
            </a:r>
            <a:endParaRPr lang="en-US" sz="1602" dirty="0"/>
          </a:p>
        </p:txBody>
      </p:sp>
      <p:sp>
        <p:nvSpPr>
          <p:cNvPr id="5" name="Text 2"/>
          <p:cNvSpPr/>
          <p:nvPr/>
        </p:nvSpPr>
        <p:spPr>
          <a:xfrm>
            <a:off x="564356" y="1426964"/>
            <a:ext cx="1435894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@asklokesh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64356" y="1953816"/>
            <a:ext cx="3786188" cy="23753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 PHILOSOPHY</a:t>
            </a:r>
            <a:endParaRPr lang="en-US" sz="987" dirty="0"/>
          </a:p>
        </p:txBody>
      </p:sp>
      <p:sp>
        <p:nvSpPr>
          <p:cNvPr id="7" name="Shape 4"/>
          <p:cNvSpPr/>
          <p:nvPr/>
        </p:nvSpPr>
        <p:spPr>
          <a:xfrm>
            <a:off x="564356" y="2334220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656" y="2467273"/>
            <a:ext cx="100013" cy="1143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4394" y="2455664"/>
            <a:ext cx="68937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Auto-scaling</a:t>
            </a:r>
            <a:endParaRPr lang="en-US" sz="834" dirty="0"/>
          </a:p>
        </p:txBody>
      </p:sp>
      <p:sp>
        <p:nvSpPr>
          <p:cNvPr id="10" name="Shape 6"/>
          <p:cNvSpPr/>
          <p:nvPr/>
        </p:nvSpPr>
        <p:spPr>
          <a:xfrm>
            <a:off x="2514600" y="2334220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8900" y="2460129"/>
            <a:ext cx="114300" cy="1143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828925" y="2448520"/>
            <a:ext cx="93225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Defense in Depth</a:t>
            </a:r>
            <a:endParaRPr lang="en-US" sz="834" dirty="0"/>
          </a:p>
        </p:txBody>
      </p:sp>
      <p:sp>
        <p:nvSpPr>
          <p:cNvPr id="13" name="Shape 8"/>
          <p:cNvSpPr/>
          <p:nvPr/>
        </p:nvSpPr>
        <p:spPr>
          <a:xfrm>
            <a:off x="564356" y="2814638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656" y="2947690"/>
            <a:ext cx="128588" cy="1143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92969" y="2936081"/>
            <a:ext cx="72509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Fault-tolerant</a:t>
            </a:r>
            <a:endParaRPr lang="en-US" sz="834" dirty="0"/>
          </a:p>
        </p:txBody>
      </p:sp>
      <p:sp>
        <p:nvSpPr>
          <p:cNvPr id="16" name="Shape 10"/>
          <p:cNvSpPr/>
          <p:nvPr/>
        </p:nvSpPr>
        <p:spPr>
          <a:xfrm>
            <a:off x="2514600" y="2814638"/>
            <a:ext cx="1835944" cy="380405"/>
          </a:xfrm>
          <a:prstGeom prst="rect">
            <a:avLst/>
          </a:prstGeom>
          <a:solidFill>
            <a:srgbClr val="FFFFFF">
              <a:alpha val="3000"/>
            </a:srgbClr>
          </a:solidFill>
          <a:ln w="9144">
            <a:solidFill>
              <a:srgbClr val="A1A1AA">
                <a:alpha val="10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2940546"/>
            <a:ext cx="128588" cy="1143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2843213" y="2928938"/>
            <a:ext cx="54828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Optimized</a:t>
            </a:r>
            <a:endParaRPr lang="en-US" sz="834" dirty="0"/>
          </a:p>
        </p:txBody>
      </p:sp>
      <p:sp>
        <p:nvSpPr>
          <p:cNvPr id="19" name="Text 12"/>
          <p:cNvSpPr/>
          <p:nvPr/>
        </p:nvSpPr>
        <p:spPr>
          <a:xfrm>
            <a:off x="564356" y="3466505"/>
            <a:ext cx="3786188" cy="23753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EXPERTISE</a:t>
            </a:r>
            <a:endParaRPr lang="en-US" sz="987" dirty="0"/>
          </a:p>
        </p:txBody>
      </p:sp>
      <p:sp>
        <p:nvSpPr>
          <p:cNvPr id="20" name="Text 13"/>
          <p:cNvSpPr/>
          <p:nvPr/>
        </p:nvSpPr>
        <p:spPr>
          <a:xfrm>
            <a:off x="564356" y="3846909"/>
            <a:ext cx="3786188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&amp; Agentic AI Solutions Architect with a focus on enterprise GenAI integration and large-scale infrastructure design.</a:t>
            </a:r>
            <a:endParaRPr lang="en-US" sz="942" dirty="0"/>
          </a:p>
        </p:txBody>
      </p:sp>
      <p:sp>
        <p:nvSpPr>
          <p:cNvPr id="21" name="Text 14"/>
          <p:cNvSpPr/>
          <p:nvPr/>
        </p:nvSpPr>
        <p:spPr>
          <a:xfrm>
            <a:off x="4779169" y="1121569"/>
            <a:ext cx="3786188" cy="237530"/>
          </a:xfrm>
          <a:prstGeom prst="rect">
            <a:avLst/>
          </a:prstGeom>
          <a:noFill/>
          <a:ln/>
        </p:spPr>
        <p:txBody>
          <a:bodyPr wrap="none" lIns="0" tIns="0" rIns="0" bIns="68072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ACHIEVEMENTS</a:t>
            </a:r>
            <a:endParaRPr lang="en-US" sz="987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9169" y="1544836"/>
            <a:ext cx="144661" cy="34468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038130" y="1501973"/>
            <a:ext cx="3527227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Creator of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 Mode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flagship autonomous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framework for Autonomi.</a:t>
            </a:r>
            <a:endParaRPr lang="en-US" sz="942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9169" y="2075259"/>
            <a:ext cx="128588" cy="34468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5022056" y="2032397"/>
            <a:ext cx="3543300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of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LokiMCPUniverse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featuring 25+ production-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ready MCP servers.</a:t>
            </a:r>
            <a:endParaRPr lang="en-US" sz="942" dirty="0"/>
          </a:p>
        </p:txBody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79169" y="2605683"/>
            <a:ext cx="160734" cy="344686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054203" y="2562820"/>
            <a:ext cx="3511153" cy="387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Architected multi-cloud solutions serving </a:t>
            </a:r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10M+ users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99.9% success rates.</a:t>
            </a:r>
            <a:endParaRPr lang="en-US" sz="942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9169" y="3136106"/>
            <a:ext cx="112514" cy="3429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5005983" y="3093244"/>
            <a:ext cx="355937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contributor focused on building "What Works" in the AI agent space.</a:t>
            </a:r>
            <a:endParaRPr lang="en-US" sz="94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144" y="-7144"/>
            <a:ext cx="9158288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4356" y="421481"/>
            <a:ext cx="8572500" cy="4143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Conclusion &amp; Get Started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64356" y="1871328"/>
            <a:ext cx="3786188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Loki Mode v7.24.0 is the most advanced autonomous framework for production software delivery. Join the Autonomi revolution and ship better code, faster.</a:t>
            </a:r>
            <a:endParaRPr lang="en-US" sz="1269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356" y="3546314"/>
            <a:ext cx="142875" cy="1428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92956" y="3540063"/>
            <a:ext cx="86618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autonomi.dev</a:t>
            </a:r>
            <a:endParaRPr lang="en-US" sz="885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356" y="3808847"/>
            <a:ext cx="111147" cy="14287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61228" y="3802596"/>
            <a:ext cx="209490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github.com/asklokesh/loki-mode</a:t>
            </a:r>
            <a:endParaRPr lang="en-US" sz="885" dirty="0"/>
          </a:p>
        </p:txBody>
      </p:sp>
      <p:sp>
        <p:nvSpPr>
          <p:cNvPr id="9" name="Shape 4"/>
          <p:cNvSpPr/>
          <p:nvPr/>
        </p:nvSpPr>
        <p:spPr>
          <a:xfrm>
            <a:off x="4779169" y="2110978"/>
            <a:ext cx="3786188" cy="1607344"/>
          </a:xfrm>
          <a:prstGeom prst="rect">
            <a:avLst/>
          </a:prstGeom>
          <a:solidFill>
            <a:srgbClr val="000000">
              <a:alpha val="30000"/>
            </a:srgbClr>
          </a:solidFill>
          <a:ln w="9144">
            <a:solidFill>
              <a:srgbClr val="6366F1"/>
            </a:solidFill>
            <a:prstDash val="solid"/>
          </a:ln>
        </p:spPr>
        <p:txBody>
          <a:bodyPr/>
          <a:p/>
        </p:txBody>
      </p:sp>
      <p:sp>
        <p:nvSpPr>
          <p:cNvPr id="10" name="Shape 5"/>
          <p:cNvSpPr/>
          <p:nvPr/>
        </p:nvSpPr>
        <p:spPr>
          <a:xfrm>
            <a:off x="4779169" y="2118122"/>
            <a:ext cx="3786188" cy="221456"/>
          </a:xfrm>
          <a:prstGeom prst="rect">
            <a:avLst/>
          </a:prstGeom>
          <a:solidFill>
            <a:srgbClr val="6366F1">
              <a:alpha val="10000"/>
            </a:srgbClr>
          </a:solidFill>
          <a:ln/>
        </p:spPr>
        <p:txBody>
          <a:bodyPr/>
          <a:p/>
        </p:txBody>
      </p:sp>
      <p:sp>
        <p:nvSpPr>
          <p:cNvPr id="11" name="Shape 6"/>
          <p:cNvSpPr/>
          <p:nvPr/>
        </p:nvSpPr>
        <p:spPr>
          <a:xfrm>
            <a:off x="4779169" y="2332434"/>
            <a:ext cx="3786188" cy="7144"/>
          </a:xfrm>
          <a:prstGeom prst="rect">
            <a:avLst/>
          </a:prstGeom>
          <a:solidFill>
            <a:srgbClr val="D0D1FB"/>
          </a:solidFill>
          <a:ln/>
        </p:spPr>
        <p:txBody>
          <a:bodyPr/>
          <a:p/>
        </p:txBody>
      </p:sp>
      <p:sp>
        <p:nvSpPr>
          <p:cNvPr id="12" name="Text 7"/>
          <p:cNvSpPr/>
          <p:nvPr/>
        </p:nvSpPr>
        <p:spPr>
          <a:xfrm>
            <a:off x="4993481" y="2475309"/>
            <a:ext cx="7679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885" dirty="0"/>
          </a:p>
        </p:txBody>
      </p:sp>
      <p:sp>
        <p:nvSpPr>
          <p:cNvPr id="13" name="Text 8"/>
          <p:cNvSpPr/>
          <p:nvPr/>
        </p:nvSpPr>
        <p:spPr>
          <a:xfrm>
            <a:off x="5177433" y="2475309"/>
            <a:ext cx="1843088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npm install -g loki-mode</a:t>
            </a:r>
            <a:endParaRPr lang="en-US" sz="942" dirty="0"/>
          </a:p>
        </p:txBody>
      </p:sp>
      <p:sp>
        <p:nvSpPr>
          <p:cNvPr id="14" name="Text 9"/>
          <p:cNvSpPr/>
          <p:nvPr/>
        </p:nvSpPr>
        <p:spPr>
          <a:xfrm>
            <a:off x="4993481" y="2787848"/>
            <a:ext cx="76795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6366F1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$</a:t>
            </a:r>
            <a:endParaRPr lang="en-US" sz="885" dirty="0"/>
          </a:p>
        </p:txBody>
      </p:sp>
      <p:sp>
        <p:nvSpPr>
          <p:cNvPr id="15" name="Text 10"/>
          <p:cNvSpPr/>
          <p:nvPr/>
        </p:nvSpPr>
        <p:spPr>
          <a:xfrm>
            <a:off x="5177433" y="2787848"/>
            <a:ext cx="1459111" cy="1696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loki start ./prd.md</a:t>
            </a:r>
            <a:endParaRPr lang="en-US" sz="942" dirty="0"/>
          </a:p>
        </p:txBody>
      </p:sp>
      <p:sp>
        <p:nvSpPr>
          <p:cNvPr id="16" name="Text 11"/>
          <p:cNvSpPr/>
          <p:nvPr/>
        </p:nvSpPr>
        <p:spPr>
          <a:xfrm>
            <a:off x="4993481" y="3100388"/>
            <a:ext cx="3357563" cy="396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 RARV Cycle + CoVe Initiated...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# 41 Agents | Concurrent Session #1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
</a:t>
            </a:r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A1A1A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 # Quality Gates: v7.24.0 Ready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2026-03-01T06:05:15Z</dcterms:created>
  <dcterms:modified xsi:type="dcterms:W3CDTF">2026-03-01T06:05:15Z</dcterms:modified>
</cp:coreProperties>
</file>